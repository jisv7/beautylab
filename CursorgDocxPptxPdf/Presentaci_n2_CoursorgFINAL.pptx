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Asignación 2. Alejandro abre indicando los cuatro componentes: lienzo, emociones, objetivos SMART y canal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la exposición: cuatro bloques y quién presenta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Alejandro López: presenta el contexto de negocio y el alcance general antes de ceder la palabra a cada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Entrada al bloque del lienzo. Luis Yepez toma la palabra.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 Yepez: las tres columnas salen de las entrevistas a gerentes de ventas, sistemas y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 Yepez: cada aliviador responde a un dolor concreto de la lámina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 Yepez: el encaje no es por cantidad de cursos, sino por combinación de condiciones.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Entrada al bloque emocional. Verónica Blázquez conduce.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Verónica Blázquez: cinco emociones y cómo la marca las 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Verónica: la identidad visual ya existe; aquí se explica qué comunica cada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Verónica Blázquez: la historia nace de una contradicción observada en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Verónica Blázquez: cinco momentos, estado emocional probable y respuesta de la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Entrada al bloque SMART. Guaicaipuro Pinzones conduce.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Guaicaipuro: este objetivo convierte la investigación de campo en evidencia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alta finalización valida el diseño de contenidos y la experiencia de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Sánchez: canal propio de adquisición para educar al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Sánchez: Instagram es vitrina y generador de prospectos, no sustituto de la venta consultiva B2B.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Sánchez presenta el guion de 1:30 a 2:00 en formato vertical 9:16, con apoyos visuales de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Sánchez cierra: los tres objetivos preparan el paso de la definición estratégica a la prueba real del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784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2 · FORMACIÓN DE EMPRENDEDORES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364210"/>
            <a:ext cx="176022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15"/>
              </a:lnSpc>
              <a:buNone/>
            </a:pPr>
            <a:r>
              <a:rPr lang="en-US" sz="8250" b="1" spc="4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CURSORG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143000" y="4678660"/>
            <a:ext cx="1177290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390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Lienzo de Propuesta de Valor, manejo de emociones y objetivos SMART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6488410"/>
            <a:ext cx="1524000" cy="5715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7002760"/>
            <a:ext cx="176022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818"/>
              </a:lnSpc>
              <a:buNone/>
            </a:pPr>
            <a:r>
              <a:rPr lang="en-US" sz="195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Alejandro López · Luis Yepez · Verónica Blázquez · Guaicaipuro Pinzones · José Sánchez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7494191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ASIGNACIÓN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2263438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48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bloques que llevan la propuesta a un plan verificable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554611"/>
            <a:ext cx="3657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78461"/>
            <a:ext cx="40233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43000" y="4532511"/>
            <a:ext cx="3767328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1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Lienzo de propuesta de valor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5513586"/>
            <a:ext cx="3767328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cliente, mapa de valor y encaje.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6403181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Yepez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3554611"/>
            <a:ext cx="3657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3878461"/>
            <a:ext cx="40233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257800" y="4532511"/>
            <a:ext cx="40233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1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de emociones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257800" y="5108774"/>
            <a:ext cx="3767328" cy="1115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de marca, emociones y recorrido del cliente.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257800" y="6357442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Verónica Blázquez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3554611"/>
            <a:ext cx="3657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3878461"/>
            <a:ext cx="40233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372600" y="4532511"/>
            <a:ext cx="40233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1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SMART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372600" y="5108774"/>
            <a:ext cx="3767328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metas de validación con fecha y métrica.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372600" y="5998369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Guaicaipuro Pinzones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487400" y="3554611"/>
            <a:ext cx="3657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20" name="Text 18"/>
          <p:cNvSpPr/>
          <p:nvPr/>
        </p:nvSpPr>
        <p:spPr>
          <a:xfrm>
            <a:off x="13487400" y="3878461"/>
            <a:ext cx="40233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3487400" y="4532511"/>
            <a:ext cx="3767328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1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digital y video pitch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3487400" y="5513586"/>
            <a:ext cx="3767328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como vitrina y generación de prospectos.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487400" y="6403181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Sánchez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7241381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general: Alejandro López · Gestión Operativa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ALCANCE DEL PROYECTO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648206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B2B de capacitación pensada para el mercado local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3295650"/>
            <a:ext cx="5054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619500"/>
            <a:ext cx="556006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fondo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4140200"/>
            <a:ext cx="5206238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55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empresas venezolanas necesitan capacitar a sus equipos, pero las plataformas disponibles cobran en divisas y no se adaptan al contexto local.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616700" y="3295650"/>
            <a:ext cx="5054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8" name="Text 6"/>
          <p:cNvSpPr/>
          <p:nvPr/>
        </p:nvSpPr>
        <p:spPr>
          <a:xfrm>
            <a:off x="6616700" y="3619500"/>
            <a:ext cx="556006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 esta asignación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16700" y="4140200"/>
            <a:ext cx="520623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55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entregables articulados: lienzo de propuesta de valor, manejo de emociones, objetivos SMART y estrategia de canal digital.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2090400" y="3295650"/>
            <a:ext cx="5054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1" name="Text 9"/>
          <p:cNvSpPr/>
          <p:nvPr/>
        </p:nvSpPr>
        <p:spPr>
          <a:xfrm>
            <a:off x="12090400" y="3619500"/>
            <a:ext cx="556006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del equipo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090400" y="4140200"/>
            <a:ext cx="520623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55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integrante asumió un frente de trabajo según su rol, y la coordinación general integró los entregables en un solo relato coherente.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Alejandro López · Gestión Operativa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86075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LIENZO DE PROPUESTA DE VALOR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533775"/>
            <a:ext cx="13244513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lienzo conecta lo que el cliente necesita con lo que CURSORG entrega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6619875"/>
            <a:ext cx="107918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61"/>
              </a:lnSpc>
              <a:buNone/>
            </a:pPr>
            <a:r>
              <a:rPr lang="en-US" sz="255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prioritario: empresas medianas de 50 a 300 empleados en industria, comercio, finanzas y servicios.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PERFIL DEL CLIENTE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decide, qué le duele y qué espera ganar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38425"/>
            <a:ext cx="508000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057525"/>
            <a:ext cx="47498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del cliente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524000" y="3616325"/>
            <a:ext cx="5715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7" name="Text 5"/>
          <p:cNvSpPr/>
          <p:nvPr/>
        </p:nvSpPr>
        <p:spPr>
          <a:xfrm>
            <a:off x="1598295" y="3892550"/>
            <a:ext cx="4319905" cy="399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programas de capacitación por grupos.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 conocimientos técnicos y operativos.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cursos por cargo, área o sede.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Monitorear avance y finalización.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Demostrar a la dirección el impacto de la inversión.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04000" y="2638425"/>
            <a:ext cx="508000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9" name="Text 7"/>
          <p:cNvSpPr/>
          <p:nvPr/>
        </p:nvSpPr>
        <p:spPr>
          <a:xfrm>
            <a:off x="6985000" y="3057525"/>
            <a:ext cx="47498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Dolores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985000" y="3616325"/>
            <a:ext cx="5715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1" name="Text 9"/>
          <p:cNvSpPr/>
          <p:nvPr/>
        </p:nvSpPr>
        <p:spPr>
          <a:xfrm>
            <a:off x="7059295" y="3892550"/>
            <a:ext cx="4319905" cy="436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Suscripciones internacionales en dólares.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Trámites contables con proveedores extranjeros.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poco contextualizado a la región.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Ausencia de reportes consolidados.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Dudas sobre la validez de los certificados.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65001" y="2638425"/>
            <a:ext cx="5080000" cy="6264275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6001" y="3057525"/>
            <a:ext cx="47498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Ganancias esperadas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446001" y="3616325"/>
            <a:ext cx="571500" cy="47625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5" name="Text 13"/>
          <p:cNvSpPr/>
          <p:nvPr/>
        </p:nvSpPr>
        <p:spPr>
          <a:xfrm>
            <a:off x="12520296" y="3892550"/>
            <a:ext cx="4319905" cy="399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en moneda local con métodos conocidos.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Capacitar sin interrumpir la operación.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Visualizar el avance de cada empleado.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Obtener certificados verificables.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el tiempo operativo de RR. HH.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Luis Yepez · Investigación de Campo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· MAPA DE VALOR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plataforma ofrece, alivia y genera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38425"/>
            <a:ext cx="76200" cy="143827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714625"/>
            <a:ext cx="377190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y servicios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486400" y="2714625"/>
            <a:ext cx="1200835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SaaS B2B con gestión de empresas y usuarios, catálogo de cursos especializados, aula virtual responsive, evaluaciones, certificados digitales, dashboard de analítica y pagos en moneda local.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4381500"/>
            <a:ext cx="76200" cy="18669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4457700"/>
            <a:ext cx="377190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Aliviadores de dolores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486400" y="4457700"/>
            <a:ext cx="1200835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cobro local elimina la barrera administrativa; los reportes automáticos sustituyen el seguimiento manual; la gestión por grupos reduce las capacitaciones repetidas; los certificados verificables despejan la duda sobre la evidencia de aprendizaje.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6553200"/>
            <a:ext cx="76200" cy="1438275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6629400"/>
            <a:ext cx="3531870" cy="81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Generadores de ganancias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486400" y="6629400"/>
            <a:ext cx="1200835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de empresas piloto en menos de 48 horas, seguimiento de competencias en tiempo real, aprendizaje flexible 24/7 y precios estimados entre 40 % y 60 % inferiores a plataformas internacionales comparables.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8410575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Luis Yepez · Investigación de Campo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· ENCAJE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96789"/>
            <a:ext cx="1648206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necesidad prioritaria tiene una respuesta y un resultado esperado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766318"/>
            <a:ext cx="16002000" cy="63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766318"/>
            <a:ext cx="4923631" cy="73660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2994918"/>
            <a:ext cx="44617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prioritaria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066631" y="2766318"/>
            <a:ext cx="6154638" cy="73660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8" name="Text 6"/>
          <p:cNvSpPr/>
          <p:nvPr/>
        </p:nvSpPr>
        <p:spPr>
          <a:xfrm>
            <a:off x="6371431" y="2994918"/>
            <a:ext cx="572967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de CURSORG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221270" y="2766318"/>
            <a:ext cx="4923731" cy="73660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0" name="Text 8"/>
          <p:cNvSpPr/>
          <p:nvPr/>
        </p:nvSpPr>
        <p:spPr>
          <a:xfrm>
            <a:off x="12526070" y="2994918"/>
            <a:ext cx="446184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43000" y="4620518"/>
            <a:ext cx="49236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3750568"/>
            <a:ext cx="446174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y pagos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6066631" y="4620518"/>
            <a:ext cx="6154638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6371431" y="3750568"/>
            <a:ext cx="5729677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y cobro en moneda local.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2221270" y="4620518"/>
            <a:ext cx="49237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12526070" y="3750568"/>
            <a:ext cx="4461843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fricción administrativa y financiera.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143000" y="5744468"/>
            <a:ext cx="49236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4874518"/>
            <a:ext cx="446174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Estandarización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6066631" y="5744468"/>
            <a:ext cx="6154638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6371431" y="4874518"/>
            <a:ext cx="5729677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estructurados, evaluaciones y certificados.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2221270" y="5744468"/>
            <a:ext cx="49237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2" name="Text 20"/>
          <p:cNvSpPr/>
          <p:nvPr/>
        </p:nvSpPr>
        <p:spPr>
          <a:xfrm>
            <a:off x="12526070" y="4874518"/>
            <a:ext cx="4461843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estándar para todos los empleados.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143000" y="6868418"/>
            <a:ext cx="49236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1447800" y="5998468"/>
            <a:ext cx="446174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gerencial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6066631" y="6868418"/>
            <a:ext cx="6154638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6" name="Text 24"/>
          <p:cNvSpPr/>
          <p:nvPr/>
        </p:nvSpPr>
        <p:spPr>
          <a:xfrm>
            <a:off x="6371431" y="5998468"/>
            <a:ext cx="5729677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inscripciones, avance y calificaciones.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2221270" y="6868418"/>
            <a:ext cx="49237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8" name="Text 26"/>
          <p:cNvSpPr/>
          <p:nvPr/>
        </p:nvSpPr>
        <p:spPr>
          <a:xfrm>
            <a:off x="12526070" y="5998468"/>
            <a:ext cx="4461843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basadas en datos.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143000" y="7992368"/>
            <a:ext cx="49236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0" name="Text 28"/>
          <p:cNvSpPr/>
          <p:nvPr/>
        </p:nvSpPr>
        <p:spPr>
          <a:xfrm>
            <a:off x="1447800" y="7122418"/>
            <a:ext cx="446174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Pertinencia del contenido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6066631" y="7992368"/>
            <a:ext cx="6154638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2" name="Text 30"/>
          <p:cNvSpPr/>
          <p:nvPr/>
        </p:nvSpPr>
        <p:spPr>
          <a:xfrm>
            <a:off x="6371431" y="7122418"/>
            <a:ext cx="5729677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Especialización industrial contextualizada.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12221270" y="7992368"/>
            <a:ext cx="49237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4" name="Text 32"/>
          <p:cNvSpPr/>
          <p:nvPr/>
        </p:nvSpPr>
        <p:spPr>
          <a:xfrm>
            <a:off x="12526070" y="7122418"/>
            <a:ext cx="4461843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aplicabilidad en el puesto de trabajo.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1447800" y="8246368"/>
            <a:ext cx="446174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Acompañamiento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6371431" y="8246368"/>
            <a:ext cx="5729677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personalizado en español.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12526070" y="8246368"/>
            <a:ext cx="4461843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confianza durante la implementación.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Luis Yepez · Investigación de Campo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24225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MANEJO DE LAS EMOCIONES DEL CLIENTE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71925"/>
            <a:ext cx="13244513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 de capacitar también es emocional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6181725"/>
            <a:ext cx="107918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61"/>
              </a:lnSpc>
              <a:buNone/>
            </a:pPr>
            <a:r>
              <a:rPr lang="en-US" sz="255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de marca, emociones a evocar, canales que las transmiten y el recorrido del cliente.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· EMOCIONES QUE SE DESEAN EVOCAR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emociones y el elemento de marca que las produce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38425"/>
            <a:ext cx="295652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2981325"/>
            <a:ext cx="2665432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409700" y="3546475"/>
            <a:ext cx="4572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7" name="Text 5"/>
          <p:cNvSpPr/>
          <p:nvPr/>
        </p:nvSpPr>
        <p:spPr>
          <a:xfrm>
            <a:off x="1409700" y="3784600"/>
            <a:ext cx="24993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delega el desarrollo de su personal.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09700" y="5010944"/>
            <a:ext cx="24993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clara, certificados verificables y reportes.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404320" y="2638425"/>
            <a:ext cx="295652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0" name="Text 8"/>
          <p:cNvSpPr/>
          <p:nvPr/>
        </p:nvSpPr>
        <p:spPr>
          <a:xfrm>
            <a:off x="4671020" y="2981325"/>
            <a:ext cx="2665432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Tranquilidad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4671020" y="3546475"/>
            <a:ext cx="4572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2" name="Text 10"/>
          <p:cNvSpPr/>
          <p:nvPr/>
        </p:nvSpPr>
        <p:spPr>
          <a:xfrm>
            <a:off x="4671020" y="3784600"/>
            <a:ext cx="24993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RR. HH. teme sumar complejidad administrativa.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4671020" y="5010944"/>
            <a:ext cx="2499320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guiado, pagos locales y respuesta en 24 horas.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7665641" y="2638425"/>
            <a:ext cx="295662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7932341" y="2981325"/>
            <a:ext cx="2499420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Orgullo profesional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7932341" y="3921125"/>
            <a:ext cx="4572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7" name="Text 15"/>
          <p:cNvSpPr/>
          <p:nvPr/>
        </p:nvSpPr>
        <p:spPr>
          <a:xfrm>
            <a:off x="7932341" y="4159250"/>
            <a:ext cx="2499420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esfuerzo del empleado debe tener reconocimiento.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932341" y="5730875"/>
            <a:ext cx="249942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digitales y progreso visible.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927061" y="2638425"/>
            <a:ext cx="295652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11193761" y="2981325"/>
            <a:ext cx="2665432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Esperanza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1193761" y="3546475"/>
            <a:ext cx="4572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22" name="Text 20"/>
          <p:cNvSpPr/>
          <p:nvPr/>
        </p:nvSpPr>
        <p:spPr>
          <a:xfrm>
            <a:off x="11193761" y="3784600"/>
            <a:ext cx="24993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empresa prepara a su equipo para el futuro.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193761" y="5010944"/>
            <a:ext cx="2499320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competencias y comunicación de crecimiento.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4188380" y="2638425"/>
            <a:ext cx="2956620" cy="6264275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25" name="Text 23"/>
          <p:cNvSpPr/>
          <p:nvPr/>
        </p:nvSpPr>
        <p:spPr>
          <a:xfrm>
            <a:off x="14455080" y="2981325"/>
            <a:ext cx="26655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Pertenencia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4455080" y="3546475"/>
            <a:ext cx="457200" cy="47625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27" name="Text 25"/>
          <p:cNvSpPr/>
          <p:nvPr/>
        </p:nvSpPr>
        <p:spPr>
          <a:xfrm>
            <a:off x="14455080" y="3784600"/>
            <a:ext cx="24994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empleado quiere sentirse parte de la organización.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4455080" y="5010944"/>
            <a:ext cx="24994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inclusivo y reconocimiento de logros.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Verónica Blázquez · Diseño de Experiencia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· CANALES PARA TRANSMITIR LAS EMOCIONES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emoción se transmite en cada punto de contacto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00325"/>
            <a:ext cx="7696200" cy="30754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981325"/>
            <a:ext cx="76276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visual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3463925"/>
            <a:ext cx="7142226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marino para estabilidad, azul corporativo para acción y celeste para dinamismo. Montserrat refuerza claridad y carácter tecnológico.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524000" y="4811117"/>
            <a:ext cx="666750" cy="38100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8" name="Shape 6"/>
          <p:cNvSpPr/>
          <p:nvPr/>
        </p:nvSpPr>
        <p:spPr>
          <a:xfrm>
            <a:off x="2324100" y="4811117"/>
            <a:ext cx="666750" cy="3810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9" name="Shape 7"/>
          <p:cNvSpPr/>
          <p:nvPr/>
        </p:nvSpPr>
        <p:spPr>
          <a:xfrm>
            <a:off x="3124200" y="4811117"/>
            <a:ext cx="666750" cy="38100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0" name="Shape 8"/>
          <p:cNvSpPr/>
          <p:nvPr/>
        </p:nvSpPr>
        <p:spPr>
          <a:xfrm>
            <a:off x="3924300" y="4811117"/>
            <a:ext cx="666750" cy="381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1" name="Shape 9"/>
          <p:cNvSpPr/>
          <p:nvPr/>
        </p:nvSpPr>
        <p:spPr>
          <a:xfrm>
            <a:off x="9448800" y="2600325"/>
            <a:ext cx="7696200" cy="30754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0" y="2981325"/>
            <a:ext cx="76276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al cliente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829800" y="3463925"/>
            <a:ext cx="7142226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cordial, directa y orientada a resolver. Cada interacción debe dejar la sensación de que existe un equipo local que comprende el contexto de la empresa.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143000" y="6094909"/>
            <a:ext cx="7696200" cy="34300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6475909"/>
            <a:ext cx="76276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y producto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24000" y="6958509"/>
            <a:ext cx="7142226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Fotografías reales de profesionales en oficinas y plantas industriales. Paneles simples, indicadores claros y certificados profesionales: la plataforma celebra el progreso sin infantilizar.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448800" y="6094909"/>
            <a:ext cx="7696200" cy="3430092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6527205"/>
            <a:ext cx="76276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75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DE MARCA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829800" y="6959005"/>
            <a:ext cx="76276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“Tu equipo crece con evidencia.”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29800" y="7568605"/>
            <a:ext cx="76276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“Capacitación corporativa sin barreras.”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29800" y="8178205"/>
            <a:ext cx="714222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“Formación que habla tu idioma y opera en tu moneda.”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87811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· HISTORIA DETRÁS DE LA MARCA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8222328" cy="126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42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contradicción observada en empresas venezolanas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3017441"/>
            <a:ext cx="822232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equipos necesitan capacitarse para ser más productivos, pero las soluciones disponibles están diseñadas para otros mercados, cobran en divisas y ofrecen un acompañamiento distante.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4998641"/>
            <a:ext cx="822232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entrevistas se repitieron tres problemas: el costo de las suscripciones individuales, la dificultad de aprobar pagos internacionales y la necesidad de estandarizar la capacitación técnica.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9245600"/>
            <a:ext cx="878112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Verónica Blázquez · Diseño de Experiencia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87843" y="952500"/>
            <a:ext cx="7257157" cy="857250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8" name="Text 6"/>
          <p:cNvSpPr/>
          <p:nvPr/>
        </p:nvSpPr>
        <p:spPr>
          <a:xfrm>
            <a:off x="10383143" y="2609255"/>
            <a:ext cx="689321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75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DE MARCA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383143" y="3193455"/>
            <a:ext cx="6454554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Accesibilidad Especialización Confiabilidad Contextualización Impacto medible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383143" y="6355755"/>
            <a:ext cx="762000" cy="47625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1" name="Text 9"/>
          <p:cNvSpPr/>
          <p:nvPr/>
        </p:nvSpPr>
        <p:spPr>
          <a:xfrm>
            <a:off x="10383143" y="6708180"/>
            <a:ext cx="6454554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i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marca no promete cursos: promete desarrollo de personas sin que el idioma, la moneda o la distancia sean barreras.”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· EXPERIENCIA EMOCIONAL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Antes, durante y después de la compra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38425"/>
            <a:ext cx="2986980" cy="5715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43225"/>
            <a:ext cx="328567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comprar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3434655"/>
            <a:ext cx="32856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Frustración e incertidumbre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43000" y="3939480"/>
            <a:ext cx="3076590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breve, demostración clara y costos locales transparentes.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4396680" y="2638425"/>
            <a:ext cx="2987080" cy="5715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9" name="Text 7"/>
          <p:cNvSpPr/>
          <p:nvPr/>
        </p:nvSpPr>
        <p:spPr>
          <a:xfrm>
            <a:off x="4396680" y="2943225"/>
            <a:ext cx="307669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e implementación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396680" y="3754636"/>
            <a:ext cx="32857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Alivio y expectativa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396680" y="4259461"/>
            <a:ext cx="307669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guiado y carga de usuarios en menos de 48 horas.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650460" y="2638425"/>
            <a:ext cx="2986980" cy="5715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3" name="Text 11"/>
          <p:cNvSpPr/>
          <p:nvPr/>
        </p:nvSpPr>
        <p:spPr>
          <a:xfrm>
            <a:off x="7650460" y="2943225"/>
            <a:ext cx="328567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el aprendizaje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50460" y="3434655"/>
            <a:ext cx="32856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 e inseguridad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650460" y="3939480"/>
            <a:ext cx="307659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intuitiva, avance visible y soporte humano.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904141" y="2638425"/>
            <a:ext cx="2987080" cy="5715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04141" y="2943225"/>
            <a:ext cx="307669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la capacitación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904141" y="3754636"/>
            <a:ext cx="32857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Orgullo y satisfacción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904141" y="4259461"/>
            <a:ext cx="307669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verificable, reporte para la empresa y próximos cursos.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4157921" y="2638425"/>
            <a:ext cx="2986980" cy="5715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21" name="Text 19"/>
          <p:cNvSpPr/>
          <p:nvPr/>
        </p:nvSpPr>
        <p:spPr>
          <a:xfrm>
            <a:off x="14157921" y="2943225"/>
            <a:ext cx="328567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renovación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157921" y="3434655"/>
            <a:ext cx="32856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y expectativa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4157921" y="3939480"/>
            <a:ext cx="307659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de resultados y nuevas rutas de aprendizaje.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Verónica Blázquez · Diseño de Experiencia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24225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OBJETIVOS ESTRATÉGICOS SMART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71925"/>
            <a:ext cx="13244513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objetivos para validar el MVP antes de escalar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6181725"/>
            <a:ext cx="107918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61"/>
              </a:lnSpc>
              <a:buNone/>
            </a:pPr>
            <a:r>
              <a:rPr lang="en-US" sz="255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Captación de empresas piloto, finalización del aprendizaje y construcción de demanda digital.</a:t>
            </a:r>
            <a:endParaRPr lang="en-US" sz="2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3985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780"/>
              </a:lnSpc>
              <a:buNone/>
            </a:pPr>
            <a:r>
              <a:rPr lang="en-US" sz="90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2871589" y="952500"/>
            <a:ext cx="99593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SMART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71589" y="1390650"/>
            <a:ext cx="99593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Captación de cinco empresas piloto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3115270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81870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0" y="3152676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537420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Conseguir 5 empresas piloto activas de industria, comercio, finanzas o servicios para probar el MVP.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3965476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32076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57600" y="4002881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387626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acuerdos piloto, con un administrador empresarial y 20 empleados cargados por empresa.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4815681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82281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Alcanzable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657600" y="5239742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4237831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existen propuesta B2B definida, roles asignados y un MVP delimitado para empresas de 20 a 300 empleados.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3000" y="6052542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519142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3657600" y="6089948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5474693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la disposición de pago y los procesos de onboarding antes de escalar.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43000" y="6362998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657600" y="6324898"/>
            <a:ext cx="1389202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30 de noviembre de 2026.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43000" y="7283053"/>
            <a:ext cx="16002000" cy="1802011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7606903"/>
            <a:ext cx="1676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75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ESTRATÉGICA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24000" y="7987903"/>
            <a:ext cx="1569720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la investigación de campo en evidencia comercial: usuarios reales, objeciones verificables y referencias para futuras ventas. Requiere demo funcional, base de prospectos, guion comercial y reuniones con decisores.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Guaicaipuro Pinzones · Finanzas y Datos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3985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780"/>
              </a:lnSpc>
              <a:buNone/>
            </a:pPr>
            <a:r>
              <a:rPr lang="en-US" sz="90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2871589" y="952500"/>
            <a:ext cx="123004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SMART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71589" y="1390650"/>
            <a:ext cx="1230047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 de finalización en los primeros 30 días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2848471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91271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0" y="3272532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346821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al menos el 80 % de los empleados inscritos finalice el curso asignado dentro de los 30 primeros días de cada implementación.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3932932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75732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57600" y="4356993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431282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Porcentaje de finalización, calificación promedio, usuarios activos y certificados emitidos en el dashboard del MVP.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5017393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560193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Alcanzable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657600" y="5441454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4515743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reducido, cursos de 1 a 8 horas, aula compatible con móvil y escritorio, evaluaciones y recordatorios.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3000" y="6101854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644654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3657600" y="6139260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5600204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que la experiencia es útil y operativamente viable, no solo que la empresa compra.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43000" y="6336110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657600" y="6298010"/>
            <a:ext cx="1389202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incorporadas entre noviembre de 2026 y enero de 2027, con medición a los 30 días de cada alta.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43000" y="6939657"/>
            <a:ext cx="16002000" cy="2188666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7263507"/>
            <a:ext cx="1676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75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ESTRATÉGICA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24000" y="7644507"/>
            <a:ext cx="1569720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alta finalización valida el diseño de contenidos y la experiencia de usuario. Se espera mejorar la percepción de valor, generar certificados y fortalecer la retención mediante analítica, soporte y acompañamiento a los administradores.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Guaicaipuro Pinzones · Finanzas y Datos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3985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780"/>
              </a:lnSpc>
              <a:buNone/>
            </a:pPr>
            <a:r>
              <a:rPr lang="en-US" sz="90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2871589" y="952500"/>
            <a:ext cx="121611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SMART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71589" y="1390650"/>
            <a:ext cx="1216110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y demanda digital en Instagram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2875856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42456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0" y="3299916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298006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mantener un canal de Instagram que posicione CURSORG y genere prospectos empresariales.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4112716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79316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57600" y="4536777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534867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piezas semanales durante 12 semanas, 300 seguidores relevantes y 20 contactos empresariales calificados.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5349578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16178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Alcanzable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657600" y="5386983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4771727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cuenta con responsable de marketing, identidad visual definida y un mensaje central claro.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3000" y="6199783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666383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3657600" y="6237189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5621933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el acceso a decisores y reduce la dependencia de contactos individuales.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43000" y="6510239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657600" y="6472139"/>
            <a:ext cx="1389202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1 de octubre al 23 de diciembre de 2026.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43000" y="7430294"/>
            <a:ext cx="16002000" cy="1802011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7754144"/>
            <a:ext cx="1676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75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ESTRATÉGICA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24000" y="8135144"/>
            <a:ext cx="1569720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canal propio de adquisición y educa al mercado sobre el problema de pagar y gestionar capacitación corporativa. Requiere calendario editorial, piezas gráficas, testimonios, métricas de Instagram y respuesta rápida.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José Sánchez · Marketing y Canales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89667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CANAL DE COMUNICACIÓN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8396162" cy="126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42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como vitrina de marca y fuente de prospectos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3055541"/>
            <a:ext cx="272415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sugerido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3886200" y="3055541"/>
            <a:ext cx="594925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@cursorg.ve, sujeto a disponibilidad.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143000" y="3614341"/>
            <a:ext cx="2552700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de contenido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3886200" y="3614341"/>
            <a:ext cx="5570666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 empresarial, casos y resultados, explicación del producto y cultura de aprendizaje.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" y="4980583"/>
            <a:ext cx="2724150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Llamado a la acción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3886200" y="4980583"/>
            <a:ext cx="5949255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“Solicita una demo para tu empresa.”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143000" y="5601097"/>
            <a:ext cx="2552700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 inicial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3886200" y="5601097"/>
            <a:ext cx="5570666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 vertical sobre fondo marino con acento celeste, entregado en formato SVG editable.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143000" y="9245600"/>
            <a:ext cx="89667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José Sánchez · Marketing y Canales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105158" y="2162175"/>
            <a:ext cx="4991100" cy="615315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4" name="Text 12"/>
          <p:cNvSpPr/>
          <p:nvPr/>
        </p:nvSpPr>
        <p:spPr>
          <a:xfrm>
            <a:off x="11505208" y="2619375"/>
            <a:ext cx="4610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45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505208" y="3711079"/>
            <a:ext cx="4316730" cy="1549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43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corporativa sin barreras.</a:t>
            </a:r>
            <a:endParaRPr lang="en-US" sz="3450" dirty="0"/>
          </a:p>
        </p:txBody>
      </p:sp>
      <p:sp>
        <p:nvSpPr>
          <p:cNvPr id="16" name="Shape 14"/>
          <p:cNvSpPr/>
          <p:nvPr/>
        </p:nvSpPr>
        <p:spPr>
          <a:xfrm>
            <a:off x="11505208" y="5432128"/>
            <a:ext cx="762000" cy="47625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7" name="Text 15"/>
          <p:cNvSpPr/>
          <p:nvPr/>
        </p:nvSpPr>
        <p:spPr>
          <a:xfrm>
            <a:off x="11505208" y="5689303"/>
            <a:ext cx="4316730" cy="1115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especializados para equipos. Pago en moneda local. Certificados verificables.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505208" y="7578725"/>
            <a:ext cx="4610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@cursorg.ve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VIDEO PITCH DE VENTAS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Guion de dos minutos en formato vertical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3739356"/>
            <a:ext cx="160020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17441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– 0:15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581400" y="3017441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0" y="2809875"/>
            <a:ext cx="11066526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directa sobre el costo y la dificultad de pagar plataformas internacionales.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143000" y="4524772"/>
            <a:ext cx="160020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982839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0:15 – 0:35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81400" y="3982839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00800" y="3955256"/>
            <a:ext cx="1181862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Suscripciones en dólares, capacitaciones repetitivas y ausencia de medición.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5310188"/>
            <a:ext cx="160020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768255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0:35 – 1:00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581400" y="4768255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00800" y="4740672"/>
            <a:ext cx="1181862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Quiénes somos: plataforma B2B para empresas venezolanas y latinoamericanas.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143000" y="6455569"/>
            <a:ext cx="160020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733654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– 1:25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581400" y="5733654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400800" y="5526088"/>
            <a:ext cx="11066526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por grupos, contenidos especializados, seguimiento, certificados y pago local.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43000" y="7600950"/>
            <a:ext cx="160020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6879035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1:25 – 1:45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581400" y="6879035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400800" y="6671469"/>
            <a:ext cx="11066526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RR. HH. ahorra tiempo, los supervisores estandarizan y la dirección obtiene evidencia.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143000" y="7844433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1:45 – 2:00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81400" y="7844433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400800" y="7816850"/>
            <a:ext cx="1181862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Slogan, usuario de Instagram e instrucción concreta para solicitar la demo.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José Sánchez · Marketing y Canales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524000"/>
            <a:ext cx="1373505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definición estratégica a la prueba real del MVP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535561"/>
            <a:ext cx="4978400" cy="4445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46711"/>
            <a:ext cx="547624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empresas piloto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4392811"/>
            <a:ext cx="512775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prueban la demanda y la disposición real de pago.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654800" y="3535561"/>
            <a:ext cx="4978400" cy="4445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8" name="Text 6"/>
          <p:cNvSpPr/>
          <p:nvPr/>
        </p:nvSpPr>
        <p:spPr>
          <a:xfrm>
            <a:off x="6654800" y="3846711"/>
            <a:ext cx="547624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finalización de cursos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654800" y="4392811"/>
            <a:ext cx="512775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el valor de uso y la calidad de la experiencia.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166600" y="3535561"/>
            <a:ext cx="4978400" cy="4445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1" name="Text 9"/>
          <p:cNvSpPr/>
          <p:nvPr/>
        </p:nvSpPr>
        <p:spPr>
          <a:xfrm>
            <a:off x="12166600" y="3846711"/>
            <a:ext cx="547624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canal de Instagram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166600" y="4392811"/>
            <a:ext cx="512775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reconocimiento y genera nuevos contactos.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8534400"/>
            <a:ext cx="1760220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corporativa sin barreras.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Alejandro López · Luis Yepez · Verónica Blázquez · Guaicaipuro Pinzones · José Sánchez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2026-09-21T18:33:09Z</dcterms:created>
  <dcterms:modified xsi:type="dcterms:W3CDTF">2026-09-21T18:33:09Z</dcterms:modified>
</cp:coreProperties>
</file>